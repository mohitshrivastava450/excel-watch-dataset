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0" r:id="rId12"/>
    <p:sldId id="272" r:id="rId13"/>
    <p:sldId id="273" r:id="rId14"/>
    <p:sldId id="265" r:id="rId15"/>
    <p:sldId id="271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G:\excel\Watch%20Dataset%20-%20Copy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5 Brands (Rating Based)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9649813394297918E-2"/>
          <c:y val="0.22845967763588049"/>
          <c:w val="0.87322907073000644"/>
          <c:h val="0.59483716728287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'top five brands'!$B$1</c:f>
              <c:strCache>
                <c:ptCount val="1"/>
                <c:pt idx="0">
                  <c:v>Average of rating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'top five brands'!$A$2:$A$6</c:f>
              <c:strCache>
                <c:ptCount val="5"/>
                <c:pt idx="0">
                  <c:v>Fastrack</c:v>
                </c:pt>
                <c:pt idx="1">
                  <c:v>TIMEX</c:v>
                </c:pt>
                <c:pt idx="2">
                  <c:v>SONATA</c:v>
                </c:pt>
                <c:pt idx="3">
                  <c:v>Allen Solly</c:v>
                </c:pt>
                <c:pt idx="4">
                  <c:v>PETER ENGLAND</c:v>
                </c:pt>
              </c:strCache>
            </c:strRef>
          </c:cat>
          <c:val>
            <c:numRef>
              <c:f>'top five brands'!$B$2:$B$6</c:f>
              <c:numCache>
                <c:formatCode>0.00</c:formatCode>
                <c:ptCount val="5"/>
                <c:pt idx="0">
                  <c:v>4.41</c:v>
                </c:pt>
                <c:pt idx="1">
                  <c:v>4.4000000000000004</c:v>
                </c:pt>
                <c:pt idx="2">
                  <c:v>4.4000000000000004</c:v>
                </c:pt>
                <c:pt idx="3">
                  <c:v>4.3499999999999996</c:v>
                </c:pt>
                <c:pt idx="4">
                  <c:v>4.32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4D-4F7C-8DDE-159BD2D22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0667215"/>
        <c:axId val="1350669711"/>
      </c:barChart>
      <c:catAx>
        <c:axId val="1350667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69711"/>
        <c:crosses val="autoZero"/>
        <c:auto val="1"/>
        <c:lblAlgn val="ctr"/>
        <c:lblOffset val="100"/>
        <c:noMultiLvlLbl val="0"/>
      </c:catAx>
      <c:valAx>
        <c:axId val="1350669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67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[Watch Dataset - Copy.xlsx]top watches!PivotTable1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</a:t>
            </a:r>
            <a:r>
              <a:rPr lang="en-US" baseline="0"/>
              <a:t> watches (Rating Based)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4429000507634452"/>
          <c:y val="0.24942775245199614"/>
          <c:w val="0.61023612441031383"/>
          <c:h val="0.562073145462080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'top watches'!$B$1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'top watches'!$A$2:$A$10</c:f>
              <c:multiLvlStrCache>
                <c:ptCount val="4"/>
                <c:lvl>
                  <c:pt idx="0">
                    <c:v>Bruno Milano</c:v>
                  </c:pt>
                  <c:pt idx="1">
                    <c:v>COACH</c:v>
                  </c:pt>
                  <c:pt idx="2">
                    <c:v>Fastrack</c:v>
                  </c:pt>
                  <c:pt idx="3">
                    <c:v>blutech</c:v>
                  </c:pt>
                </c:lvl>
                <c:lvl>
                  <c:pt idx="0">
                    <c:v>Analog Watch  - For Men Luxury Stainless Steel Mens Sports Business Wrist Watch with Date</c:v>
                  </c:pt>
                  <c:pt idx="1">
                    <c:v>Elliot Analog Watch  - For Women 14000117</c:v>
                  </c:pt>
                  <c:pt idx="2">
                    <c:v>Vyb Diva Analog Watch  - For Women FV60060WM01W|FV60060WM01W|FV60060WM01W</c:v>
                  </c:pt>
                  <c:pt idx="3">
                    <c:v>waterproof kids watches for boys Digital Watch  - For Boys &amp; Girls QSIB-72 G SHOCK BLACK_13</c:v>
                  </c:pt>
                </c:lvl>
              </c:multiLvlStrCache>
            </c:multiLvlStrRef>
          </c:cat>
          <c:val>
            <c:numRef>
              <c:f>'top watches'!$B$2:$B$10</c:f>
              <c:numCache>
                <c:formatCode>General</c:formatCode>
                <c:ptCount val="4"/>
                <c:pt idx="0">
                  <c:v>5</c:v>
                </c:pt>
                <c:pt idx="1">
                  <c:v>4.5999999999999996</c:v>
                </c:pt>
                <c:pt idx="2">
                  <c:v>4.5999999999999996</c:v>
                </c:pt>
                <c:pt idx="3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BE-430C-AB43-7CB69562E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0661807"/>
        <c:axId val="1350655983"/>
      </c:barChart>
      <c:catAx>
        <c:axId val="1350661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55983"/>
        <c:crosses val="autoZero"/>
        <c:auto val="1"/>
        <c:lblAlgn val="ctr"/>
        <c:lblOffset val="100"/>
        <c:noMultiLvlLbl val="0"/>
      </c:catAx>
      <c:valAx>
        <c:axId val="135065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618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'avg price'!$B$1</c:f>
              <c:strCache>
                <c:ptCount val="1"/>
                <c:pt idx="0">
                  <c:v>Average of Special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'avg price'!$A$2:$A$6</c:f>
              <c:strCache>
                <c:ptCount val="5"/>
                <c:pt idx="0">
                  <c:v>Fastrack</c:v>
                </c:pt>
                <c:pt idx="1">
                  <c:v>TIMEX</c:v>
                </c:pt>
                <c:pt idx="2">
                  <c:v>SONATA</c:v>
                </c:pt>
                <c:pt idx="3">
                  <c:v>Allen Solly</c:v>
                </c:pt>
                <c:pt idx="4">
                  <c:v>PETER ENGLAND</c:v>
                </c:pt>
              </c:strCache>
            </c:strRef>
          </c:cat>
          <c:val>
            <c:numRef>
              <c:f>'avg price'!$B$2:$B$6</c:f>
              <c:numCache>
                <c:formatCode>0.00</c:formatCode>
                <c:ptCount val="5"/>
                <c:pt idx="0">
                  <c:v>1667.47</c:v>
                </c:pt>
                <c:pt idx="1">
                  <c:v>2765.14</c:v>
                </c:pt>
                <c:pt idx="2">
                  <c:v>1223.22</c:v>
                </c:pt>
                <c:pt idx="3">
                  <c:v>1397.82</c:v>
                </c:pt>
                <c:pt idx="4">
                  <c:v>1286.69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0D-4C43-A795-C5931BA4BD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0668463"/>
        <c:axId val="1350659311"/>
      </c:barChart>
      <c:catAx>
        <c:axId val="1350668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59311"/>
        <c:crosses val="autoZero"/>
        <c:auto val="1"/>
        <c:lblAlgn val="ctr"/>
        <c:lblOffset val="100"/>
        <c:noMultiLvlLbl val="0"/>
      </c:catAx>
      <c:valAx>
        <c:axId val="1350659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68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[Watch Dataset - Copy.xlsx]lowest 5!PivotTable9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Lowest Rated Brands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'lowest 5'!$B$1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'lowest 5'!$A$2:$A$8</c:f>
              <c:strCache>
                <c:ptCount val="6"/>
                <c:pt idx="0">
                  <c:v>FASTDEALS</c:v>
                </c:pt>
                <c:pt idx="1">
                  <c:v>Forum</c:v>
                </c:pt>
                <c:pt idx="2">
                  <c:v>KNOWZ</c:v>
                </c:pt>
                <c:pt idx="3">
                  <c:v>RLS</c:v>
                </c:pt>
                <c:pt idx="4">
                  <c:v>SABR</c:v>
                </c:pt>
                <c:pt idx="5">
                  <c:v>shafs</c:v>
                </c:pt>
              </c:strCache>
            </c:strRef>
          </c:cat>
          <c:val>
            <c:numRef>
              <c:f>'lowest 5'!$B$2:$B$8</c:f>
              <c:numCache>
                <c:formatCode>General</c:formatCode>
                <c:ptCount val="6"/>
                <c:pt idx="0">
                  <c:v>3.8</c:v>
                </c:pt>
                <c:pt idx="1">
                  <c:v>3.2</c:v>
                </c:pt>
                <c:pt idx="2">
                  <c:v>3.8</c:v>
                </c:pt>
                <c:pt idx="3">
                  <c:v>3.6</c:v>
                </c:pt>
                <c:pt idx="4">
                  <c:v>3.6</c:v>
                </c:pt>
                <c:pt idx="5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C2-4C2C-B92F-BF07EA41ED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9952047"/>
        <c:axId val="569932495"/>
      </c:barChart>
      <c:catAx>
        <c:axId val="569952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932495"/>
        <c:crosses val="autoZero"/>
        <c:auto val="1"/>
        <c:lblAlgn val="ctr"/>
        <c:lblOffset val="100"/>
        <c:noMultiLvlLbl val="0"/>
      </c:catAx>
      <c:valAx>
        <c:axId val="569932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952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[Watch Dataset - Copy.xlsx]Discount!PivotTable1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Discount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Discount!$B$1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Discount!$A$2:$A$7</c:f>
              <c:strCache>
                <c:ptCount val="5"/>
                <c:pt idx="0">
                  <c:v>30.00%</c:v>
                </c:pt>
                <c:pt idx="1">
                  <c:v>69.00%</c:v>
                </c:pt>
                <c:pt idx="2">
                  <c:v>84.00%</c:v>
                </c:pt>
                <c:pt idx="3">
                  <c:v>86.00%</c:v>
                </c:pt>
                <c:pt idx="4">
                  <c:v>88.00%</c:v>
                </c:pt>
              </c:strCache>
            </c:strRef>
          </c:cat>
          <c:val>
            <c:numRef>
              <c:f>Discount!$B$2:$B$7</c:f>
              <c:numCache>
                <c:formatCode>General</c:formatCode>
                <c:ptCount val="5"/>
                <c:pt idx="0">
                  <c:v>16</c:v>
                </c:pt>
                <c:pt idx="1">
                  <c:v>9</c:v>
                </c:pt>
                <c:pt idx="2">
                  <c:v>10</c:v>
                </c:pt>
                <c:pt idx="3">
                  <c:v>13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38-4DE0-A9D1-397A74340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8586720"/>
        <c:axId val="1618569248"/>
      </c:barChart>
      <c:catAx>
        <c:axId val="161858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8569248"/>
        <c:crosses val="autoZero"/>
        <c:auto val="1"/>
        <c:lblAlgn val="ctr"/>
        <c:lblOffset val="100"/>
        <c:noMultiLvlLbl val="0"/>
      </c:catAx>
      <c:valAx>
        <c:axId val="1618569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8586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5 Brands (Rating Based)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 five brands'!$B$1</c:f>
              <c:strCache>
                <c:ptCount val="1"/>
                <c:pt idx="0">
                  <c:v>Average of rating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'top five brands'!$A$2:$A$6</c:f>
              <c:strCache>
                <c:ptCount val="5"/>
                <c:pt idx="0">
                  <c:v>Fastrack</c:v>
                </c:pt>
                <c:pt idx="1">
                  <c:v>TIMEX</c:v>
                </c:pt>
                <c:pt idx="2">
                  <c:v>SONATA</c:v>
                </c:pt>
                <c:pt idx="3">
                  <c:v>Allen Solly</c:v>
                </c:pt>
                <c:pt idx="4">
                  <c:v>PETER ENGLAND</c:v>
                </c:pt>
              </c:strCache>
            </c:strRef>
          </c:cat>
          <c:val>
            <c:numRef>
              <c:f>'top five brands'!$B$2:$B$6</c:f>
              <c:numCache>
                <c:formatCode>0.00</c:formatCode>
                <c:ptCount val="5"/>
                <c:pt idx="0">
                  <c:v>4.41</c:v>
                </c:pt>
                <c:pt idx="1">
                  <c:v>4.4000000000000004</c:v>
                </c:pt>
                <c:pt idx="2">
                  <c:v>4.4000000000000004</c:v>
                </c:pt>
                <c:pt idx="3">
                  <c:v>4.3499999999999996</c:v>
                </c:pt>
                <c:pt idx="4">
                  <c:v>4.32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24-4C9E-ABA6-689598E8C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0667215"/>
        <c:axId val="1350669711"/>
      </c:barChart>
      <c:catAx>
        <c:axId val="1350667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69711"/>
        <c:crosses val="autoZero"/>
        <c:auto val="1"/>
        <c:lblAlgn val="ctr"/>
        <c:lblOffset val="100"/>
        <c:noMultiLvlLbl val="0"/>
      </c:catAx>
      <c:valAx>
        <c:axId val="1350669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67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[Watch Dataset - Copy.xlsx]lowest 5!PivotTable9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Lowest Rated Brands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'lowest 5'!$B$1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'lowest 5'!$A$2:$A$8</c:f>
              <c:strCache>
                <c:ptCount val="6"/>
                <c:pt idx="0">
                  <c:v>FASTDEALS</c:v>
                </c:pt>
                <c:pt idx="1">
                  <c:v>Forum</c:v>
                </c:pt>
                <c:pt idx="2">
                  <c:v>KNOWZ</c:v>
                </c:pt>
                <c:pt idx="3">
                  <c:v>RLS</c:v>
                </c:pt>
                <c:pt idx="4">
                  <c:v>SABR</c:v>
                </c:pt>
                <c:pt idx="5">
                  <c:v>shafs</c:v>
                </c:pt>
              </c:strCache>
            </c:strRef>
          </c:cat>
          <c:val>
            <c:numRef>
              <c:f>'lowest 5'!$B$2:$B$8</c:f>
              <c:numCache>
                <c:formatCode>General</c:formatCode>
                <c:ptCount val="6"/>
                <c:pt idx="0">
                  <c:v>3.8</c:v>
                </c:pt>
                <c:pt idx="1">
                  <c:v>3.2</c:v>
                </c:pt>
                <c:pt idx="2">
                  <c:v>3.8</c:v>
                </c:pt>
                <c:pt idx="3">
                  <c:v>3.6</c:v>
                </c:pt>
                <c:pt idx="4">
                  <c:v>3.6</c:v>
                </c:pt>
                <c:pt idx="5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54-4D00-9A48-05D84C387C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9952047"/>
        <c:axId val="569932495"/>
      </c:barChart>
      <c:catAx>
        <c:axId val="569952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932495"/>
        <c:crosses val="autoZero"/>
        <c:auto val="1"/>
        <c:lblAlgn val="ctr"/>
        <c:lblOffset val="100"/>
        <c:noMultiLvlLbl val="0"/>
      </c:catAx>
      <c:valAx>
        <c:axId val="569932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9520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'avg price'!$B$1</c:f>
              <c:strCache>
                <c:ptCount val="1"/>
                <c:pt idx="0">
                  <c:v>Average of Special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'avg price'!$A$2:$A$6</c:f>
              <c:strCache>
                <c:ptCount val="5"/>
                <c:pt idx="0">
                  <c:v>Fastrack</c:v>
                </c:pt>
                <c:pt idx="1">
                  <c:v>TIMEX</c:v>
                </c:pt>
                <c:pt idx="2">
                  <c:v>SONATA</c:v>
                </c:pt>
                <c:pt idx="3">
                  <c:v>Allen Solly</c:v>
                </c:pt>
                <c:pt idx="4">
                  <c:v>PETER ENGLAND</c:v>
                </c:pt>
              </c:strCache>
            </c:strRef>
          </c:cat>
          <c:val>
            <c:numRef>
              <c:f>'avg price'!$B$2:$B$6</c:f>
              <c:numCache>
                <c:formatCode>0.00</c:formatCode>
                <c:ptCount val="5"/>
                <c:pt idx="0">
                  <c:v>1667.47</c:v>
                </c:pt>
                <c:pt idx="1">
                  <c:v>2765.14</c:v>
                </c:pt>
                <c:pt idx="2">
                  <c:v>1223.22</c:v>
                </c:pt>
                <c:pt idx="3">
                  <c:v>1397.82</c:v>
                </c:pt>
                <c:pt idx="4">
                  <c:v>1286.69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A7-47FB-A565-8C4470729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0668463"/>
        <c:axId val="1350659311"/>
      </c:barChart>
      <c:catAx>
        <c:axId val="1350668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59311"/>
        <c:crosses val="autoZero"/>
        <c:auto val="1"/>
        <c:lblAlgn val="ctr"/>
        <c:lblOffset val="100"/>
        <c:noMultiLvlLbl val="0"/>
      </c:catAx>
      <c:valAx>
        <c:axId val="1350659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68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[Watch Dataset - Copy.xlsx]top watches!PivotTable1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</a:t>
            </a:r>
            <a:r>
              <a:rPr lang="en-US" baseline="0"/>
              <a:t> watches (Rating Based)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4429000507634452"/>
          <c:y val="0.24942775245199614"/>
          <c:w val="0.61023612441031383"/>
          <c:h val="0.562073145462080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'top watches'!$B$1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'top watches'!$A$2:$A$10</c:f>
              <c:multiLvlStrCache>
                <c:ptCount val="4"/>
                <c:lvl>
                  <c:pt idx="0">
                    <c:v>Bruno Milano</c:v>
                  </c:pt>
                  <c:pt idx="1">
                    <c:v>COACH</c:v>
                  </c:pt>
                  <c:pt idx="2">
                    <c:v>Fastrack</c:v>
                  </c:pt>
                  <c:pt idx="3">
                    <c:v>blutech</c:v>
                  </c:pt>
                </c:lvl>
                <c:lvl>
                  <c:pt idx="0">
                    <c:v>Analog Watch  - For Men Luxury Stainless Steel Mens Sports Business Wrist Watch with Date</c:v>
                  </c:pt>
                  <c:pt idx="1">
                    <c:v>Elliot Analog Watch  - For Women 14000117</c:v>
                  </c:pt>
                  <c:pt idx="2">
                    <c:v>Vyb Diva Analog Watch  - For Women FV60060WM01W|FV60060WM01W|FV60060WM01W</c:v>
                  </c:pt>
                  <c:pt idx="3">
                    <c:v>waterproof kids watches for boys Digital Watch  - For Boys &amp; Girls QSIB-72 G SHOCK BLACK_13</c:v>
                  </c:pt>
                </c:lvl>
              </c:multiLvlStrCache>
            </c:multiLvlStrRef>
          </c:cat>
          <c:val>
            <c:numRef>
              <c:f>'top watches'!$B$2:$B$10</c:f>
              <c:numCache>
                <c:formatCode>General</c:formatCode>
                <c:ptCount val="4"/>
                <c:pt idx="0">
                  <c:v>5</c:v>
                </c:pt>
                <c:pt idx="1">
                  <c:v>4.5999999999999996</c:v>
                </c:pt>
                <c:pt idx="2">
                  <c:v>4.5999999999999996</c:v>
                </c:pt>
                <c:pt idx="3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B2-4396-840E-E86A394F4A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0661807"/>
        <c:axId val="1350655983"/>
      </c:barChart>
      <c:catAx>
        <c:axId val="1350661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55983"/>
        <c:crosses val="autoZero"/>
        <c:auto val="1"/>
        <c:lblAlgn val="ctr"/>
        <c:lblOffset val="100"/>
        <c:noMultiLvlLbl val="0"/>
      </c:catAx>
      <c:valAx>
        <c:axId val="135065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618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[Watch Dataset - Copy.xlsx]Discount!PivotTable1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Discount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Discount!$B$1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Discount!$A$2:$A$7</c:f>
              <c:strCache>
                <c:ptCount val="5"/>
                <c:pt idx="0">
                  <c:v>30.00%</c:v>
                </c:pt>
                <c:pt idx="1">
                  <c:v>69.00%</c:v>
                </c:pt>
                <c:pt idx="2">
                  <c:v>84.00%</c:v>
                </c:pt>
                <c:pt idx="3">
                  <c:v>86.00%</c:v>
                </c:pt>
                <c:pt idx="4">
                  <c:v>88.00%</c:v>
                </c:pt>
              </c:strCache>
            </c:strRef>
          </c:cat>
          <c:val>
            <c:numRef>
              <c:f>Discount!$B$2:$B$7</c:f>
              <c:numCache>
                <c:formatCode>General</c:formatCode>
                <c:ptCount val="5"/>
                <c:pt idx="0">
                  <c:v>16</c:v>
                </c:pt>
                <c:pt idx="1">
                  <c:v>9</c:v>
                </c:pt>
                <c:pt idx="2">
                  <c:v>10</c:v>
                </c:pt>
                <c:pt idx="3">
                  <c:v>13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9A-447C-826A-EE08B687F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8586720"/>
        <c:axId val="1618569248"/>
      </c:barChart>
      <c:catAx>
        <c:axId val="161858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8569248"/>
        <c:crosses val="autoZero"/>
        <c:auto val="1"/>
        <c:lblAlgn val="ctr"/>
        <c:lblOffset val="100"/>
        <c:noMultiLvlLbl val="0"/>
      </c:catAx>
      <c:valAx>
        <c:axId val="1618569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8586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675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981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168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29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9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56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63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82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94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76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9499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96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107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902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500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21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E015E-FCCB-467E-B6BD-3292AB021CB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8BBAE3-A0D9-406A-A161-ED5BB3C4F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40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1C7A-DE2D-4049-A088-BD63F794FE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Flipkart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AE54A-2F1A-4C98-810C-09CF95A890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Watch Dataset Analysis</a:t>
            </a:r>
          </a:p>
        </p:txBody>
      </p:sp>
    </p:spTree>
    <p:extLst>
      <p:ext uri="{BB962C8B-B14F-4D97-AF65-F5344CB8AC3E}">
        <p14:creationId xmlns:p14="http://schemas.microsoft.com/office/powerpoint/2010/main" val="140619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2084-B899-433B-B666-06AB3BF3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8494F-E06D-4CB7-8EF8-37C2C4F0D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4666215"/>
          </a:xfrm>
        </p:spPr>
        <p:txBody>
          <a:bodyPr>
            <a:normAutofit/>
          </a:bodyPr>
          <a:lstStyle/>
          <a:p>
            <a:r>
              <a:rPr lang="en-IN" dirty="0"/>
              <a:t>Mission and vision</a:t>
            </a:r>
          </a:p>
          <a:p>
            <a:r>
              <a:rPr lang="en-IN" dirty="0"/>
              <a:t>Importing Dataset</a:t>
            </a:r>
          </a:p>
          <a:p>
            <a:r>
              <a:rPr lang="en-IN" dirty="0"/>
              <a:t>Dataset Description</a:t>
            </a:r>
          </a:p>
          <a:p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IN" dirty="0"/>
          </a:p>
          <a:p>
            <a:r>
              <a:rPr lang="en-IN" dirty="0"/>
              <a:t>Data transformation</a:t>
            </a:r>
          </a:p>
          <a:p>
            <a:r>
              <a:rPr lang="en-IN" dirty="0"/>
              <a:t>Data Visualisation</a:t>
            </a:r>
          </a:p>
          <a:p>
            <a:r>
              <a:rPr lang="en-IN" dirty="0"/>
              <a:t>Dashboard</a:t>
            </a:r>
          </a:p>
          <a:p>
            <a:r>
              <a:rPr lang="en-IN" dirty="0"/>
              <a:t>Result of Analysis</a:t>
            </a:r>
          </a:p>
          <a:p>
            <a:r>
              <a:rPr lang="en-IN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443642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D8359C-53C5-4450-A8D0-601336B4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Mission and Vision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C719FA-09C4-46A3-8729-87381BCB21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Analysis of Flipkart watch dataset </a:t>
            </a:r>
          </a:p>
          <a:p>
            <a:pPr marL="0" indent="0">
              <a:buNone/>
            </a:pPr>
            <a:r>
              <a:rPr lang="en-IN" dirty="0"/>
              <a:t>to find suitable brands and suitable price range for a watch shop.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61165-27EA-4A7E-AAC3-0ADA292F4F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It serves to provide a summarized analysis of watch dataset and get insights from the dataset to make decisions.</a:t>
            </a:r>
          </a:p>
        </p:txBody>
      </p:sp>
    </p:spTree>
    <p:extLst>
      <p:ext uri="{BB962C8B-B14F-4D97-AF65-F5344CB8AC3E}">
        <p14:creationId xmlns:p14="http://schemas.microsoft.com/office/powerpoint/2010/main" val="407899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8CEFFF-D4EC-43C1-9F2D-EF0A1FBF0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59027"/>
            <a:ext cx="9603275" cy="596347"/>
          </a:xfrm>
        </p:spPr>
        <p:txBody>
          <a:bodyPr>
            <a:normAutofit fontScale="90000"/>
          </a:bodyPr>
          <a:lstStyle/>
          <a:p>
            <a:r>
              <a:rPr lang="en-IN" dirty="0"/>
              <a:t>Importing dataset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60F62D-2D35-4459-B087-B62F740E2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55" t="16740" r="11111" b="36155"/>
          <a:stretch/>
        </p:blipFill>
        <p:spPr>
          <a:xfrm>
            <a:off x="503583" y="1527526"/>
            <a:ext cx="10511082" cy="393237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B8143C-8A29-44EB-91E6-A9B67E0C7344}"/>
              </a:ext>
            </a:extLst>
          </p:cNvPr>
          <p:cNvSpPr txBox="1"/>
          <p:nvPr/>
        </p:nvSpPr>
        <p:spPr>
          <a:xfrm>
            <a:off x="1205948" y="755373"/>
            <a:ext cx="564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Scrapped data from </a:t>
            </a:r>
            <a:r>
              <a:rPr lang="en-IN" dirty="0" err="1"/>
              <a:t>flipkart</a:t>
            </a:r>
            <a:r>
              <a:rPr lang="en-IN" dirty="0"/>
              <a:t> using chrome web scrapper.</a:t>
            </a:r>
          </a:p>
        </p:txBody>
      </p:sp>
    </p:spTree>
    <p:extLst>
      <p:ext uri="{BB962C8B-B14F-4D97-AF65-F5344CB8AC3E}">
        <p14:creationId xmlns:p14="http://schemas.microsoft.com/office/powerpoint/2010/main" val="67154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8BA2-F350-4355-B027-75791AC49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12996-6AB8-47AD-AB7D-61003706F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Watch Dataset includes:</a:t>
            </a:r>
          </a:p>
          <a:p>
            <a:r>
              <a:rPr lang="en-IN" dirty="0"/>
              <a:t>Name</a:t>
            </a:r>
          </a:p>
          <a:p>
            <a:r>
              <a:rPr lang="en-IN" dirty="0"/>
              <a:t>Brand</a:t>
            </a:r>
          </a:p>
          <a:p>
            <a:r>
              <a:rPr lang="en-IN" dirty="0"/>
              <a:t>Original Price</a:t>
            </a:r>
          </a:p>
          <a:p>
            <a:r>
              <a:rPr lang="en-IN" dirty="0"/>
              <a:t>Discount</a:t>
            </a:r>
          </a:p>
          <a:p>
            <a:r>
              <a:rPr lang="en-IN" dirty="0"/>
              <a:t>Special Price</a:t>
            </a:r>
          </a:p>
          <a:p>
            <a:r>
              <a:rPr lang="en-IN" dirty="0"/>
              <a:t>Rating</a:t>
            </a:r>
          </a:p>
          <a:p>
            <a:r>
              <a:rPr lang="en-IN" dirty="0"/>
              <a:t>Rating Count</a:t>
            </a:r>
          </a:p>
        </p:txBody>
      </p:sp>
    </p:spTree>
    <p:extLst>
      <p:ext uri="{BB962C8B-B14F-4D97-AF65-F5344CB8AC3E}">
        <p14:creationId xmlns:p14="http://schemas.microsoft.com/office/powerpoint/2010/main" val="62033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11C94-EE9A-4F2C-96D2-CE59F0A2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3CB-EABC-41F4-98C1-109F963CA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Dropped unnecessary columns like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web-scraper-order</a:t>
            </a:r>
            <a:r>
              <a:rPr lang="en-IN" dirty="0"/>
              <a:t> ,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web-scraper-start-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url</a:t>
            </a:r>
            <a:r>
              <a:rPr lang="en-IN" dirty="0"/>
              <a:t> ,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watch_data</a:t>
            </a:r>
            <a:r>
              <a:rPr lang="en-IN" dirty="0"/>
              <a:t> ,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watch_data-href</a:t>
            </a:r>
            <a:r>
              <a:rPr lang="en-IN" dirty="0"/>
              <a:t> ,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next_page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&amp;</a:t>
            </a:r>
            <a:r>
              <a:rPr lang="en-IN" dirty="0"/>
              <a:t>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next_page-href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1258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4A872-2E5F-451B-A2B4-C5E37F08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2142A-32DC-4468-84B7-3342321D4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Removed “off” word from discount column and converted its data type from text to percentage.</a:t>
            </a:r>
          </a:p>
          <a:p>
            <a:r>
              <a:rPr lang="en-IN" dirty="0"/>
              <a:t>Removed “Ratings and Reviews” from rating count column using split column.</a:t>
            </a:r>
          </a:p>
          <a:p>
            <a:r>
              <a:rPr lang="en-IN" dirty="0"/>
              <a:t>Removed duplicate records.</a:t>
            </a:r>
          </a:p>
        </p:txBody>
      </p:sp>
    </p:spTree>
    <p:extLst>
      <p:ext uri="{BB962C8B-B14F-4D97-AF65-F5344CB8AC3E}">
        <p14:creationId xmlns:p14="http://schemas.microsoft.com/office/powerpoint/2010/main" val="343155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3223-7CA0-4FDA-902D-491182CF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D0FB4-9A70-4D88-839D-407084EEC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515600" cy="4745728"/>
          </a:xfrm>
        </p:spPr>
        <p:txBody>
          <a:bodyPr/>
          <a:lstStyle/>
          <a:p>
            <a:r>
              <a:rPr lang="en-IN" dirty="0"/>
              <a:t>Which are the top five brands?</a:t>
            </a:r>
          </a:p>
          <a:p>
            <a:pPr>
              <a:buFont typeface="+mj-lt"/>
              <a:buAutoNum type="arabicPeriod"/>
            </a:pPr>
            <a:r>
              <a:rPr lang="en-IN" dirty="0"/>
              <a:t>Fastrack(4.41)</a:t>
            </a:r>
          </a:p>
          <a:p>
            <a:pPr>
              <a:buFont typeface="+mj-lt"/>
              <a:buAutoNum type="arabicPeriod"/>
            </a:pPr>
            <a:r>
              <a:rPr lang="en-IN" dirty="0"/>
              <a:t>TIMEX(4.40)</a:t>
            </a:r>
          </a:p>
          <a:p>
            <a:pPr>
              <a:buFont typeface="+mj-lt"/>
              <a:buAutoNum type="arabicPeriod"/>
            </a:pPr>
            <a:r>
              <a:rPr lang="en-IN" dirty="0"/>
              <a:t>SONATA(4.40)</a:t>
            </a:r>
          </a:p>
          <a:p>
            <a:pPr>
              <a:buFont typeface="+mj-lt"/>
              <a:buAutoNum type="arabicPeriod"/>
            </a:pPr>
            <a:r>
              <a:rPr lang="en-IN" dirty="0"/>
              <a:t>Allen Solly(4.35)</a:t>
            </a:r>
          </a:p>
          <a:p>
            <a:pPr>
              <a:buFont typeface="+mj-lt"/>
              <a:buAutoNum type="arabicPeriod"/>
            </a:pPr>
            <a:r>
              <a:rPr lang="en-IN" dirty="0"/>
              <a:t>PETER ENGLAND(4.32)</a:t>
            </a:r>
          </a:p>
          <a:p>
            <a:pPr marL="0" indent="0">
              <a:buNone/>
            </a:pPr>
            <a:r>
              <a:rPr lang="en-IN" dirty="0"/>
              <a:t>Recommendation:</a:t>
            </a:r>
          </a:p>
          <a:p>
            <a:pPr marL="0" indent="0">
              <a:buNone/>
            </a:pPr>
            <a:r>
              <a:rPr lang="en-IN" dirty="0"/>
              <a:t>Watches of these brands can be kept </a:t>
            </a:r>
          </a:p>
          <a:p>
            <a:pPr marL="0" indent="0">
              <a:buNone/>
            </a:pPr>
            <a:r>
              <a:rPr lang="en-IN" dirty="0"/>
              <a:t>In stock for selling as these watches have highest rating.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FBB87CB-037B-4BF8-898C-098117DAC9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9365448"/>
              </p:ext>
            </p:extLst>
          </p:nvPr>
        </p:nvGraphicFramePr>
        <p:xfrm>
          <a:off x="4975668" y="1270000"/>
          <a:ext cx="5150968" cy="264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5242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D3C0-96EF-44B4-BF5E-6CF9CDE0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/>
          <a:lstStyle/>
          <a:p>
            <a:r>
              <a:rPr lang="en-IN" dirty="0"/>
              <a:t>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C8202-FAB3-4075-A107-AF00E292B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72199"/>
            <a:ext cx="6571692" cy="646932"/>
          </a:xfrm>
        </p:spPr>
        <p:txBody>
          <a:bodyPr/>
          <a:lstStyle/>
          <a:p>
            <a:r>
              <a:rPr lang="en-IN" dirty="0"/>
              <a:t>Find the highest rated watches?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4E8CD-3531-4363-84DF-CAB080F90EE0}"/>
              </a:ext>
            </a:extLst>
          </p:cNvPr>
          <p:cNvSpPr txBox="1"/>
          <p:nvPr/>
        </p:nvSpPr>
        <p:spPr>
          <a:xfrm>
            <a:off x="677334" y="5205046"/>
            <a:ext cx="6571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Recommendation:</a:t>
            </a:r>
          </a:p>
          <a:p>
            <a:r>
              <a:rPr lang="en-IN" dirty="0"/>
              <a:t>You can maintain a stock of these watches as these can provide good sales.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CE4294-0607-44D1-AF29-CD55FC42B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390123"/>
              </p:ext>
            </p:extLst>
          </p:nvPr>
        </p:nvGraphicFramePr>
        <p:xfrm>
          <a:off x="576538" y="1407086"/>
          <a:ext cx="5989982" cy="3805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8818">
                  <a:extLst>
                    <a:ext uri="{9D8B030D-6E8A-4147-A177-3AD203B41FA5}">
                      <a16:colId xmlns:a16="http://schemas.microsoft.com/office/drawing/2014/main" val="2298061357"/>
                    </a:ext>
                  </a:extLst>
                </a:gridCol>
                <a:gridCol w="961164">
                  <a:extLst>
                    <a:ext uri="{9D8B030D-6E8A-4147-A177-3AD203B41FA5}">
                      <a16:colId xmlns:a16="http://schemas.microsoft.com/office/drawing/2014/main" val="1379461345"/>
                    </a:ext>
                  </a:extLst>
                </a:gridCol>
              </a:tblGrid>
              <a:tr h="361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1" u="none" strike="noStrike" dirty="0">
                          <a:effectLst/>
                        </a:rPr>
                        <a:t>Highest Rated Watches(With Brand Name)</a:t>
                      </a:r>
                    </a:p>
                    <a:p>
                      <a:pPr algn="l" fontAlgn="b"/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1" u="none" strike="noStrike" dirty="0">
                          <a:effectLst/>
                        </a:rPr>
                        <a:t>Average of rating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3976442"/>
                  </a:ext>
                </a:extLst>
              </a:tr>
              <a:tr h="36136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1.Analog Watch  - For Men Luxury Stainless Steel </a:t>
                      </a:r>
                      <a:r>
                        <a:rPr lang="en-US" sz="1400" u="none" strike="noStrike" dirty="0" err="1">
                          <a:effectLst/>
                        </a:rPr>
                        <a:t>Mens</a:t>
                      </a:r>
                      <a:r>
                        <a:rPr lang="en-US" sz="1400" u="none" strike="noStrike" dirty="0">
                          <a:effectLst/>
                        </a:rPr>
                        <a:t> Sports Business Wrist Watch with 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5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9762615"/>
                  </a:ext>
                </a:extLst>
              </a:tr>
              <a:tr h="31556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(Bruno Milano)</a:t>
                      </a:r>
                    </a:p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300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4117614"/>
                  </a:ext>
                </a:extLst>
              </a:tr>
              <a:tr h="36136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2.waterproof kids watches for boys Digital Watch  - For Boys &amp; Girls QSIB-72 G SHOCK  BLACK_13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4.7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0324938"/>
                  </a:ext>
                </a:extLst>
              </a:tr>
              <a:tr h="31556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(</a:t>
                      </a:r>
                      <a:r>
                        <a:rPr lang="en-IN" sz="1400" u="none" strike="noStrike" dirty="0" err="1">
                          <a:effectLst/>
                        </a:rPr>
                        <a:t>Blutech</a:t>
                      </a:r>
                      <a:r>
                        <a:rPr lang="en-IN" sz="1400" u="none" strike="noStrike" dirty="0">
                          <a:effectLst/>
                        </a:rPr>
                        <a:t>)</a:t>
                      </a:r>
                    </a:p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300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1715678"/>
                  </a:ext>
                </a:extLst>
              </a:tr>
              <a:tr h="315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Elliot Analog Watch  - For Women 14000117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89736042"/>
                  </a:ext>
                </a:extLst>
              </a:tr>
              <a:tr h="31556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(COACH)</a:t>
                      </a:r>
                    </a:p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300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0977861"/>
                  </a:ext>
                </a:extLst>
              </a:tr>
              <a:tr h="31556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4.Vyb Diva Analog Watch  - For Women FV60060WM01W|FV60060WM01W|FV60060WM01W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4.6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999701"/>
                  </a:ext>
                </a:extLst>
              </a:tr>
              <a:tr h="31556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(Fastrack)</a:t>
                      </a:r>
                    </a:p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4300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1249043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36F3FC1-613A-432D-940D-B4A90B744C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4466034"/>
              </p:ext>
            </p:extLst>
          </p:nvPr>
        </p:nvGraphicFramePr>
        <p:xfrm>
          <a:off x="7349822" y="967409"/>
          <a:ext cx="4444613" cy="5446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7121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6304D-5073-40E2-BBD6-EE0579F3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97B6C-1156-4442-94C1-2A19D3CC4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596668" cy="4465780"/>
          </a:xfrm>
        </p:spPr>
        <p:txBody>
          <a:bodyPr/>
          <a:lstStyle/>
          <a:p>
            <a:r>
              <a:rPr lang="en-IN" dirty="0"/>
              <a:t>What is the average price of watches across top five brands?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622A8D-D086-45D7-B134-5E22DF4AC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212944"/>
              </p:ext>
            </p:extLst>
          </p:nvPr>
        </p:nvGraphicFramePr>
        <p:xfrm>
          <a:off x="848139" y="2054086"/>
          <a:ext cx="3853863" cy="34588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5688">
                  <a:extLst>
                    <a:ext uri="{9D8B030D-6E8A-4147-A177-3AD203B41FA5}">
                      <a16:colId xmlns:a16="http://schemas.microsoft.com/office/drawing/2014/main" val="402764732"/>
                    </a:ext>
                  </a:extLst>
                </a:gridCol>
                <a:gridCol w="2298175">
                  <a:extLst>
                    <a:ext uri="{9D8B030D-6E8A-4147-A177-3AD203B41FA5}">
                      <a16:colId xmlns:a16="http://schemas.microsoft.com/office/drawing/2014/main" val="3223545799"/>
                    </a:ext>
                  </a:extLst>
                </a:gridCol>
              </a:tblGrid>
              <a:tr h="837085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 dirty="0">
                          <a:effectLst/>
                        </a:rPr>
                        <a:t>Brand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 dirty="0">
                          <a:effectLst/>
                        </a:rPr>
                        <a:t>Average of Special price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05395121"/>
                  </a:ext>
                </a:extLst>
              </a:tr>
              <a:tr h="44616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Fastrack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u="none" strike="noStrike" dirty="0">
                          <a:effectLst/>
                        </a:rPr>
                        <a:t>1667.47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4596427"/>
                  </a:ext>
                </a:extLst>
              </a:tr>
              <a:tr h="44616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TIMEX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u="none" strike="noStrike" dirty="0">
                          <a:effectLst/>
                        </a:rPr>
                        <a:t>2765.14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8661242"/>
                  </a:ext>
                </a:extLst>
              </a:tr>
              <a:tr h="44616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SONATA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u="none" strike="noStrike">
                          <a:effectLst/>
                        </a:rPr>
                        <a:t>1223.22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6376209"/>
                  </a:ext>
                </a:extLst>
              </a:tr>
              <a:tr h="44616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Allen Solly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u="none" strike="noStrike">
                          <a:effectLst/>
                        </a:rPr>
                        <a:t>1397.82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1720514"/>
                  </a:ext>
                </a:extLst>
              </a:tr>
              <a:tr h="837085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PETER ENGLAND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u="none" strike="noStrike" dirty="0">
                          <a:effectLst/>
                        </a:rPr>
                        <a:t>1286.69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9172551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975385C-CB61-4AA9-BEEC-E32EEBD403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130982"/>
              </p:ext>
            </p:extLst>
          </p:nvPr>
        </p:nvGraphicFramePr>
        <p:xfrm>
          <a:off x="6017582" y="2516329"/>
          <a:ext cx="4420646" cy="2885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332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9D0F4-C994-4811-95FD-C9EA0626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861391"/>
          </a:xfrm>
        </p:spPr>
        <p:txBody>
          <a:bodyPr>
            <a:normAutofit/>
          </a:bodyPr>
          <a:lstStyle/>
          <a:p>
            <a:r>
              <a:rPr lang="en-IN" dirty="0"/>
              <a:t>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0E33-BD36-4E9A-B5A3-B1344C7B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0991"/>
            <a:ext cx="8596668" cy="4570372"/>
          </a:xfrm>
        </p:spPr>
        <p:txBody>
          <a:bodyPr/>
          <a:lstStyle/>
          <a:p>
            <a:r>
              <a:rPr lang="en-IN" dirty="0"/>
              <a:t>What are the lowest rated brands?</a:t>
            </a:r>
          </a:p>
          <a:p>
            <a:pPr>
              <a:buFont typeface="+mj-lt"/>
              <a:buAutoNum type="arabicPeriod"/>
            </a:pPr>
            <a:r>
              <a:rPr lang="en-IN" dirty="0"/>
              <a:t>Forum(3.2)</a:t>
            </a:r>
          </a:p>
          <a:p>
            <a:pPr>
              <a:buFont typeface="+mj-lt"/>
              <a:buAutoNum type="arabicPeriod"/>
            </a:pPr>
            <a:r>
              <a:rPr lang="en-IN" dirty="0"/>
              <a:t>SABR(3.6)</a:t>
            </a:r>
          </a:p>
          <a:p>
            <a:pPr>
              <a:buFont typeface="+mj-lt"/>
              <a:buAutoNum type="arabicPeriod"/>
            </a:pPr>
            <a:r>
              <a:rPr lang="en-IN" dirty="0"/>
              <a:t>RLS(3.6)</a:t>
            </a:r>
          </a:p>
          <a:p>
            <a:pPr>
              <a:buFont typeface="+mj-lt"/>
              <a:buAutoNum type="arabicPeriod"/>
            </a:pPr>
            <a:r>
              <a:rPr lang="en-IN" dirty="0" err="1"/>
              <a:t>Shafs</a:t>
            </a:r>
            <a:r>
              <a:rPr lang="en-IN" dirty="0"/>
              <a:t>(3.7)</a:t>
            </a:r>
          </a:p>
          <a:p>
            <a:pPr>
              <a:buFont typeface="+mj-lt"/>
              <a:buAutoNum type="arabicPeriod"/>
            </a:pPr>
            <a:r>
              <a:rPr lang="en-IN" dirty="0"/>
              <a:t>FASTDEALS(3.8)</a:t>
            </a:r>
          </a:p>
          <a:p>
            <a:pPr>
              <a:buFont typeface="+mj-lt"/>
              <a:buAutoNum type="arabicPeriod"/>
            </a:pPr>
            <a:r>
              <a:rPr lang="en-IN" dirty="0"/>
              <a:t>KNOWZ(3.8)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Recommendation:</a:t>
            </a:r>
          </a:p>
          <a:p>
            <a:pPr marL="0" indent="0">
              <a:buNone/>
            </a:pPr>
            <a:r>
              <a:rPr lang="en-IN" dirty="0"/>
              <a:t>We should not consider keeping watches of these brands in stock.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3E95296-6F1C-4FF7-A2A2-AF6456BA43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0398287"/>
              </p:ext>
            </p:extLst>
          </p:nvPr>
        </p:nvGraphicFramePr>
        <p:xfrm>
          <a:off x="5523633" y="1040294"/>
          <a:ext cx="5589844" cy="3770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00684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0C54-C515-40F9-A1FC-9F49DB402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1878"/>
          </a:xfrm>
        </p:spPr>
        <p:txBody>
          <a:bodyPr>
            <a:normAutofit/>
          </a:bodyPr>
          <a:lstStyle/>
          <a:p>
            <a:r>
              <a:rPr lang="en-IN" dirty="0"/>
              <a:t>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E20B8-069D-4E8A-B5C8-C13DB24DE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7253"/>
            <a:ext cx="8596668" cy="4504110"/>
          </a:xfrm>
        </p:spPr>
        <p:txBody>
          <a:bodyPr/>
          <a:lstStyle/>
          <a:p>
            <a:r>
              <a:rPr lang="en-IN" dirty="0"/>
              <a:t>Find the top five discounts offered on original price?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231AD6-C4F6-414D-8781-A65CFA76F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677828"/>
              </p:ext>
            </p:extLst>
          </p:nvPr>
        </p:nvGraphicFramePr>
        <p:xfrm>
          <a:off x="940904" y="2266122"/>
          <a:ext cx="3710609" cy="2895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9493">
                  <a:extLst>
                    <a:ext uri="{9D8B030D-6E8A-4147-A177-3AD203B41FA5}">
                      <a16:colId xmlns:a16="http://schemas.microsoft.com/office/drawing/2014/main" val="1065789757"/>
                    </a:ext>
                  </a:extLst>
                </a:gridCol>
                <a:gridCol w="2111116">
                  <a:extLst>
                    <a:ext uri="{9D8B030D-6E8A-4147-A177-3AD203B41FA5}">
                      <a16:colId xmlns:a16="http://schemas.microsoft.com/office/drawing/2014/main" val="1096475198"/>
                    </a:ext>
                  </a:extLst>
                </a:gridCol>
              </a:tblGrid>
              <a:tr h="907828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u="none" strike="noStrike">
                          <a:effectLst/>
                        </a:rPr>
                        <a:t>Discount(%)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u="none" strike="noStrike" dirty="0">
                          <a:effectLst/>
                        </a:rPr>
                        <a:t>Count of                    discount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9386514"/>
                  </a:ext>
                </a:extLst>
              </a:tr>
              <a:tr h="397554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u="none" strike="noStrike">
                          <a:effectLst/>
                        </a:rPr>
                        <a:t>30.00%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u="none" strike="noStrike">
                          <a:effectLst/>
                        </a:rPr>
                        <a:t>16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1309795"/>
                  </a:ext>
                </a:extLst>
              </a:tr>
              <a:tr h="397554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u="none" strike="noStrike">
                          <a:effectLst/>
                        </a:rPr>
                        <a:t>69.00%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u="none" strike="noStrike" dirty="0">
                          <a:effectLst/>
                        </a:rPr>
                        <a:t>9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0284785"/>
                  </a:ext>
                </a:extLst>
              </a:tr>
              <a:tr h="397554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u="none" strike="noStrike">
                          <a:effectLst/>
                        </a:rPr>
                        <a:t>84.00%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u="none" strike="noStrike">
                          <a:effectLst/>
                        </a:rPr>
                        <a:t>10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92514855"/>
                  </a:ext>
                </a:extLst>
              </a:tr>
              <a:tr h="397554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u="none" strike="noStrike">
                          <a:effectLst/>
                        </a:rPr>
                        <a:t>86.00%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u="none" strike="noStrike">
                          <a:effectLst/>
                        </a:rPr>
                        <a:t>13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6420629"/>
                  </a:ext>
                </a:extLst>
              </a:tr>
              <a:tr h="397554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u="none" strike="noStrike">
                          <a:effectLst/>
                        </a:rPr>
                        <a:t>88.00%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u="none" strike="noStrike" dirty="0">
                          <a:effectLst/>
                        </a:rPr>
                        <a:t>8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63021009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50359EB-4978-4394-8B2C-6865933C4E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0457664"/>
              </p:ext>
            </p:extLst>
          </p:nvPr>
        </p:nvGraphicFramePr>
        <p:xfrm>
          <a:off x="6508493" y="1827258"/>
          <a:ext cx="3710609" cy="3645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39541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1A600DA-6284-4D3D-80BF-05058CC4296D}"/>
              </a:ext>
            </a:extLst>
          </p:cNvPr>
          <p:cNvGrpSpPr/>
          <p:nvPr/>
        </p:nvGrpSpPr>
        <p:grpSpPr>
          <a:xfrm>
            <a:off x="805299" y="253502"/>
            <a:ext cx="10581402" cy="1442776"/>
            <a:chOff x="0" y="0"/>
            <a:chExt cx="12058236" cy="1442415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73C7368-5E0A-4C2F-B27B-9072E484CD86}"/>
                </a:ext>
              </a:extLst>
            </p:cNvPr>
            <p:cNvSpPr/>
            <p:nvPr/>
          </p:nvSpPr>
          <p:spPr>
            <a:xfrm>
              <a:off x="0" y="0"/>
              <a:ext cx="12058236" cy="596348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800">
                  <a:solidFill>
                    <a:schemeClr val="tx2"/>
                  </a:solidFill>
                </a:rPr>
                <a:t>FLIPKART DATA ANALYSIS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08A1847-7C1D-49CC-8C0F-8241F99619CF}"/>
                </a:ext>
              </a:extLst>
            </p:cNvPr>
            <p:cNvGrpSpPr/>
            <p:nvPr/>
          </p:nvGrpSpPr>
          <p:grpSpPr>
            <a:xfrm>
              <a:off x="8284" y="619125"/>
              <a:ext cx="2948607" cy="795130"/>
              <a:chOff x="8284" y="619125"/>
              <a:chExt cx="2948607" cy="795130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B82C0309-7E3F-40DD-AB5B-062A255C2738}"/>
                  </a:ext>
                </a:extLst>
              </p:cNvPr>
              <p:cNvSpPr/>
              <p:nvPr/>
            </p:nvSpPr>
            <p:spPr>
              <a:xfrm>
                <a:off x="8284" y="619125"/>
                <a:ext cx="2948607" cy="79513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IN" sz="1100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815249D-9490-4B1D-9D67-C9BDC81C17FF}"/>
                  </a:ext>
                </a:extLst>
              </p:cNvPr>
              <p:cNvSpPr/>
              <p:nvPr/>
            </p:nvSpPr>
            <p:spPr>
              <a:xfrm>
                <a:off x="74544" y="685386"/>
                <a:ext cx="2741543" cy="273326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 b="1">
                    <a:solidFill>
                      <a:schemeClr val="tx2"/>
                    </a:solidFill>
                  </a:rPr>
                  <a:t>TOTAL WATCHES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136BCBBB-4CE4-4116-984A-9409959BEE3E}"/>
                  </a:ext>
                </a:extLst>
              </p:cNvPr>
              <p:cNvSpPr/>
              <p:nvPr/>
            </p:nvSpPr>
            <p:spPr>
              <a:xfrm>
                <a:off x="75721" y="1041538"/>
                <a:ext cx="2741543" cy="273326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 b="1">
                    <a:solidFill>
                      <a:schemeClr val="tx2"/>
                    </a:solidFill>
                  </a:rPr>
                  <a:t>179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B50554C-1CBC-4C1F-8A4A-645170FAD8C4}"/>
                </a:ext>
              </a:extLst>
            </p:cNvPr>
            <p:cNvGrpSpPr/>
            <p:nvPr/>
          </p:nvGrpSpPr>
          <p:grpSpPr>
            <a:xfrm>
              <a:off x="2998305" y="635689"/>
              <a:ext cx="2948607" cy="795130"/>
              <a:chOff x="2998305" y="635689"/>
              <a:chExt cx="2948607" cy="79513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2137D7B8-9734-4AA8-94BB-8E93C057A8A5}"/>
                  </a:ext>
                </a:extLst>
              </p:cNvPr>
              <p:cNvSpPr/>
              <p:nvPr/>
            </p:nvSpPr>
            <p:spPr>
              <a:xfrm>
                <a:off x="2998305" y="635689"/>
                <a:ext cx="2948607" cy="79513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IN" sz="1100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6D6C2213-71F8-486A-9969-63EFE8627F8B}"/>
                  </a:ext>
                </a:extLst>
              </p:cNvPr>
              <p:cNvSpPr/>
              <p:nvPr/>
            </p:nvSpPr>
            <p:spPr>
              <a:xfrm>
                <a:off x="3064565" y="701950"/>
                <a:ext cx="2741543" cy="273326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 b="1">
                    <a:solidFill>
                      <a:schemeClr val="tx2"/>
                    </a:solidFill>
                  </a:rPr>
                  <a:t>TOTAL BRANDS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2F9C3BB2-C02B-47BD-8992-F2CB31B830D6}"/>
                  </a:ext>
                </a:extLst>
              </p:cNvPr>
              <p:cNvSpPr/>
              <p:nvPr/>
            </p:nvSpPr>
            <p:spPr>
              <a:xfrm>
                <a:off x="3056284" y="1033254"/>
                <a:ext cx="2741543" cy="273326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 b="1">
                    <a:solidFill>
                      <a:schemeClr val="tx2"/>
                    </a:solidFill>
                  </a:rPr>
                  <a:t>64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ED65F59-1B18-4CC7-8A98-91E9E86506A6}"/>
                </a:ext>
              </a:extLst>
            </p:cNvPr>
            <p:cNvGrpSpPr/>
            <p:nvPr/>
          </p:nvGrpSpPr>
          <p:grpSpPr>
            <a:xfrm>
              <a:off x="6049618" y="647285"/>
              <a:ext cx="2948607" cy="795130"/>
              <a:chOff x="6049618" y="647285"/>
              <a:chExt cx="2948607" cy="795130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9C82D878-E96C-4519-8F10-8A6BB83ADD69}"/>
                  </a:ext>
                </a:extLst>
              </p:cNvPr>
              <p:cNvSpPr/>
              <p:nvPr/>
            </p:nvSpPr>
            <p:spPr>
              <a:xfrm>
                <a:off x="6049618" y="647285"/>
                <a:ext cx="2948607" cy="79513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IN" sz="1100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C76BC571-2070-4018-95AF-6F3C1EB6E9C2}"/>
                  </a:ext>
                </a:extLst>
              </p:cNvPr>
              <p:cNvSpPr/>
              <p:nvPr/>
            </p:nvSpPr>
            <p:spPr>
              <a:xfrm>
                <a:off x="6115878" y="713546"/>
                <a:ext cx="2741543" cy="273326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 b="1">
                    <a:solidFill>
                      <a:schemeClr val="tx2"/>
                    </a:solidFill>
                  </a:rPr>
                  <a:t>HIGHEST PRICED WATCH</a:t>
                </a: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57EF5771-0F61-4D05-BA67-5020E6E8D2E5}"/>
                  </a:ext>
                </a:extLst>
              </p:cNvPr>
              <p:cNvSpPr/>
              <p:nvPr/>
            </p:nvSpPr>
            <p:spPr>
              <a:xfrm>
                <a:off x="6107597" y="1044850"/>
                <a:ext cx="2741543" cy="273326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 b="1">
                    <a:solidFill>
                      <a:schemeClr val="tx2"/>
                    </a:solidFill>
                  </a:rPr>
                  <a:t>8219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CDA7C70-8657-427D-BDB4-F06D46B6E391}"/>
                </a:ext>
              </a:extLst>
            </p:cNvPr>
            <p:cNvGrpSpPr/>
            <p:nvPr/>
          </p:nvGrpSpPr>
          <p:grpSpPr>
            <a:xfrm>
              <a:off x="9076084" y="617468"/>
              <a:ext cx="2948607" cy="795130"/>
              <a:chOff x="9076084" y="617468"/>
              <a:chExt cx="2948607" cy="795130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7D09353E-942B-41CB-90BD-5E9E25C6655F}"/>
                  </a:ext>
                </a:extLst>
              </p:cNvPr>
              <p:cNvSpPr/>
              <p:nvPr/>
            </p:nvSpPr>
            <p:spPr>
              <a:xfrm>
                <a:off x="9076084" y="617468"/>
                <a:ext cx="2948607" cy="79513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IN" sz="1100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E6D53D6F-271B-494B-91B7-951E1FB71E26}"/>
                  </a:ext>
                </a:extLst>
              </p:cNvPr>
              <p:cNvSpPr/>
              <p:nvPr/>
            </p:nvSpPr>
            <p:spPr>
              <a:xfrm>
                <a:off x="9142344" y="683729"/>
                <a:ext cx="2741543" cy="273326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 b="1">
                    <a:solidFill>
                      <a:schemeClr val="tx2"/>
                    </a:solidFill>
                  </a:rPr>
                  <a:t>LOWEST</a:t>
                </a:r>
                <a:r>
                  <a:rPr lang="en-IN" sz="1100" b="1" baseline="0">
                    <a:solidFill>
                      <a:schemeClr val="tx2"/>
                    </a:solidFill>
                  </a:rPr>
                  <a:t> PRICED WATCH</a:t>
                </a:r>
                <a:endParaRPr lang="en-IN" sz="1100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A116C31B-9430-4A47-9AFF-2A81F052BF1B}"/>
                  </a:ext>
                </a:extLst>
              </p:cNvPr>
              <p:cNvSpPr/>
              <p:nvPr/>
            </p:nvSpPr>
            <p:spPr>
              <a:xfrm>
                <a:off x="9134063" y="1015033"/>
                <a:ext cx="2741543" cy="273326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 b="1">
                    <a:solidFill>
                      <a:schemeClr val="tx2"/>
                    </a:solidFill>
                  </a:rPr>
                  <a:t>169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6263AA8-4957-4B71-A83F-16A5BF28E7D2}"/>
              </a:ext>
            </a:extLst>
          </p:cNvPr>
          <p:cNvGrpSpPr/>
          <p:nvPr/>
        </p:nvGrpSpPr>
        <p:grpSpPr>
          <a:xfrm>
            <a:off x="862871" y="1793193"/>
            <a:ext cx="10581402" cy="2077258"/>
            <a:chOff x="0" y="0"/>
            <a:chExt cx="10466258" cy="2203766"/>
          </a:xfrm>
        </p:grpSpPr>
        <p:graphicFrame>
          <p:nvGraphicFramePr>
            <p:cNvPr id="46" name="Chart 45">
              <a:extLst>
                <a:ext uri="{FF2B5EF4-FFF2-40B4-BE49-F238E27FC236}">
                  <a16:creationId xmlns:a16="http://schemas.microsoft.com/office/drawing/2014/main" id="{8FBB87CB-037B-4BF8-898C-098117DAC9E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30927377"/>
                </p:ext>
              </p:extLst>
            </p:nvPr>
          </p:nvGraphicFramePr>
          <p:xfrm>
            <a:off x="0" y="0"/>
            <a:ext cx="5150968" cy="220376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47" name="Chart 46">
              <a:extLst>
                <a:ext uri="{FF2B5EF4-FFF2-40B4-BE49-F238E27FC236}">
                  <a16:creationId xmlns:a16="http://schemas.microsoft.com/office/drawing/2014/main" id="{E3E95296-6F1C-4FF7-A2A2-AF6456BA431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3690206"/>
                </p:ext>
              </p:extLst>
            </p:nvPr>
          </p:nvGraphicFramePr>
          <p:xfrm>
            <a:off x="5270030" y="8283"/>
            <a:ext cx="5196228" cy="219548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C00DBFE-C003-443B-BB8D-B53E41C4FC52}"/>
              </a:ext>
            </a:extLst>
          </p:cNvPr>
          <p:cNvGrpSpPr/>
          <p:nvPr/>
        </p:nvGrpSpPr>
        <p:grpSpPr>
          <a:xfrm>
            <a:off x="870605" y="3856383"/>
            <a:ext cx="10450790" cy="2748115"/>
            <a:chOff x="0" y="0"/>
            <a:chExt cx="11924885" cy="2905926"/>
          </a:xfrm>
        </p:grpSpPr>
        <p:graphicFrame>
          <p:nvGraphicFramePr>
            <p:cNvPr id="53" name="Chart 52">
              <a:extLst>
                <a:ext uri="{FF2B5EF4-FFF2-40B4-BE49-F238E27FC236}">
                  <a16:creationId xmlns:a16="http://schemas.microsoft.com/office/drawing/2014/main" id="{E975385C-CB61-4AA9-BEEC-E32EEBD403B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466771" y="22024"/>
            <a:ext cx="4458114" cy="288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54" name="Chart 53">
              <a:extLst>
                <a:ext uri="{FF2B5EF4-FFF2-40B4-BE49-F238E27FC236}">
                  <a16:creationId xmlns:a16="http://schemas.microsoft.com/office/drawing/2014/main" id="{736F3FC1-613A-432D-940D-B4A90B744C6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0" y="0"/>
            <a:ext cx="3856382" cy="287696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55" name="Chart 54">
              <a:extLst>
                <a:ext uri="{FF2B5EF4-FFF2-40B4-BE49-F238E27FC236}">
                  <a16:creationId xmlns:a16="http://schemas.microsoft.com/office/drawing/2014/main" id="{D50359EB-4978-4394-8B2C-6865933C4E3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33701" y="19202"/>
            <a:ext cx="3456333" cy="287696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5323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666CA-3555-4CB6-855E-E8789253A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3219"/>
            <a:ext cx="8072771" cy="563420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DD591-F79E-4295-9174-6AA0741B0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16638"/>
            <a:ext cx="12009120" cy="6041361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On the basis of the analysis of this dataset we can conclude that:</a:t>
            </a:r>
          </a:p>
          <a:p>
            <a:r>
              <a:rPr lang="en-IN" dirty="0">
                <a:latin typeface="+mj-lt"/>
              </a:rPr>
              <a:t>The most popular brands in this dataset are: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   1. Fastrack. 2.SONATA. 3.TIMEX. 4.Allen Solly. 5.PETER ENGLAND. </a:t>
            </a:r>
          </a:p>
          <a:p>
            <a:r>
              <a:rPr lang="en-IN" dirty="0">
                <a:latin typeface="+mj-lt"/>
              </a:rPr>
              <a:t>The highest rated watches are:</a:t>
            </a:r>
          </a:p>
          <a:p>
            <a:pPr fontAlgn="b">
              <a:spcBef>
                <a:spcPts val="0"/>
              </a:spcBef>
              <a:buFont typeface="+mj-lt"/>
              <a:buAutoNum type="arabicPeriod"/>
            </a:pPr>
            <a:r>
              <a:rPr lang="en-US" sz="1800" u="none" strike="noStrike" dirty="0">
                <a:effectLst/>
              </a:rPr>
              <a:t>Analog Watch  - For Men Luxury Stainless Steel </a:t>
            </a:r>
            <a:r>
              <a:rPr lang="en-US" sz="1800" u="none" strike="noStrike" dirty="0" err="1">
                <a:effectLst/>
              </a:rPr>
              <a:t>Mens</a:t>
            </a:r>
            <a:r>
              <a:rPr lang="en-US" sz="1800" u="none" strike="noStrike" dirty="0">
                <a:effectLst/>
              </a:rPr>
              <a:t> Sports Business Wrist Watch with Date.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fontAlgn="b">
              <a:spcBef>
                <a:spcPts val="0"/>
              </a:spcBef>
              <a:buFont typeface="+mj-lt"/>
              <a:buAutoNum type="arabicPeriod"/>
            </a:pPr>
            <a:r>
              <a:rPr lang="en-US" sz="1800" u="none" strike="noStrike" dirty="0">
                <a:effectLst/>
              </a:rPr>
              <a:t>waterproof kids watches for boys Digital Watch  - For Boys &amp; Girls QSIB-72 G SHOCK BLACK_13.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fontAlgn="b">
              <a:spcBef>
                <a:spcPts val="0"/>
              </a:spcBef>
              <a:buFont typeface="+mj-lt"/>
              <a:buAutoNum type="arabicPeriod"/>
            </a:pPr>
            <a:r>
              <a:rPr lang="en-US" sz="1800" u="none" strike="noStrike" dirty="0">
                <a:effectLst/>
              </a:rPr>
              <a:t>Elliot Analog Watch  - For Women 14000117.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fontAlgn="b">
              <a:spcBef>
                <a:spcPts val="0"/>
              </a:spcBef>
              <a:buFont typeface="+mj-lt"/>
              <a:buAutoNum type="arabicPeriod"/>
            </a:pPr>
            <a:r>
              <a:rPr lang="en-IN" sz="1800" u="none" strike="noStrike" dirty="0" err="1">
                <a:effectLst/>
              </a:rPr>
              <a:t>Vyb</a:t>
            </a:r>
            <a:r>
              <a:rPr lang="en-IN" sz="1800" u="none" strike="noStrike" dirty="0">
                <a:effectLst/>
              </a:rPr>
              <a:t> Diva Analog Watch  - For Women FV60060WM01W|FV60060WM01W|FV60060WM01W.</a:t>
            </a:r>
            <a:endParaRPr lang="en-IN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 fontAlgn="b">
              <a:spcBef>
                <a:spcPts val="0"/>
              </a:spcBef>
              <a:buNone/>
            </a:pPr>
            <a:endParaRPr lang="en-IN" sz="1800" b="0" i="0" u="none" strike="noStrike" dirty="0">
              <a:effectLst/>
              <a:latin typeface="Trebuchet MS" panose="020B0603020202020204" pitchFamily="34" charset="0"/>
            </a:endParaRPr>
          </a:p>
          <a:p>
            <a:r>
              <a:rPr lang="en-IN" dirty="0"/>
              <a:t>The average price(round off) of watches across top five brands are: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      1.Fastrack-1667.47.</a:t>
            </a:r>
            <a:r>
              <a:rPr lang="en-IN" dirty="0"/>
              <a:t> 2</a:t>
            </a:r>
            <a:r>
              <a:rPr lang="en-IN" dirty="0">
                <a:latin typeface="+mj-lt"/>
              </a:rPr>
              <a:t>.SONATA-1223.22. 3.TIMEX-2765.14. 4.Allen Solly-1397.82. 5.PETER ENGLAND-1286.69. </a:t>
            </a:r>
            <a:endParaRPr lang="en-IN" dirty="0"/>
          </a:p>
          <a:p>
            <a:r>
              <a:rPr lang="en-IN" dirty="0"/>
              <a:t>The lowest rated brands are:</a:t>
            </a:r>
          </a:p>
          <a:p>
            <a:pPr marL="0" indent="0">
              <a:buNone/>
            </a:pPr>
            <a:r>
              <a:rPr lang="en-IN" dirty="0"/>
              <a:t>      1.Forum(3.2). 2.SABR(3.6). 3.RLS(3.6). 4.Shafs(3.7) 5.FASTDEALS(3.8). 6.KNOWZ(3.8).</a:t>
            </a:r>
          </a:p>
          <a:p>
            <a:r>
              <a:rPr lang="en-IN" dirty="0"/>
              <a:t>The most frequently offered discount range was from 80 to 90 percent on original price.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5119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5328-7129-44FD-B403-9F728FF4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77263-DE83-4A93-9965-6DAADB14F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7739"/>
            <a:ext cx="8596668" cy="4583623"/>
          </a:xfrm>
        </p:spPr>
        <p:txBody>
          <a:bodyPr/>
          <a:lstStyle/>
          <a:p>
            <a:r>
              <a:rPr lang="en-IN" dirty="0"/>
              <a:t>The watches of top brands can be kept in stock as these can generate good sales.</a:t>
            </a:r>
          </a:p>
          <a:p>
            <a:r>
              <a:rPr lang="en-IN" dirty="0"/>
              <a:t>Highest rated watches can provide good sales.</a:t>
            </a:r>
          </a:p>
          <a:p>
            <a:r>
              <a:rPr lang="en-IN" dirty="0"/>
              <a:t>Avoid keeping lowest rated brand watches in stock. </a:t>
            </a:r>
          </a:p>
        </p:txBody>
      </p:sp>
    </p:spTree>
    <p:extLst>
      <p:ext uri="{BB962C8B-B14F-4D97-AF65-F5344CB8AC3E}">
        <p14:creationId xmlns:p14="http://schemas.microsoft.com/office/powerpoint/2010/main" val="2713746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FEC9D9-CD70-4E12-AC55-64B7FBA45E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2996E4-1273-4B11-A7E7-89B106CAD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 flipV="1">
            <a:off x="11698457" y="6531634"/>
            <a:ext cx="273149" cy="220858"/>
          </a:xfrm>
        </p:spPr>
        <p:txBody>
          <a:bodyPr>
            <a:normAutofit fontScale="5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2687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561</TotalTime>
  <Words>732</Words>
  <Application>Microsoft Office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Trebuchet MS</vt:lpstr>
      <vt:lpstr>Wingdings 3</vt:lpstr>
      <vt:lpstr>Facet</vt:lpstr>
      <vt:lpstr> Flipkart</vt:lpstr>
      <vt:lpstr>Contents</vt:lpstr>
      <vt:lpstr>Mission and Vision</vt:lpstr>
      <vt:lpstr>Importing dataset</vt:lpstr>
      <vt:lpstr>Dataset Description</vt:lpstr>
      <vt:lpstr>Data Preprocessing</vt:lpstr>
      <vt:lpstr>Data Transformation</vt:lpstr>
      <vt:lpstr>Data Visualisation</vt:lpstr>
      <vt:lpstr>Data Visualisation</vt:lpstr>
      <vt:lpstr>Data Visualisation</vt:lpstr>
      <vt:lpstr>Data Visualisation</vt:lpstr>
      <vt:lpstr>Data Visualisation</vt:lpstr>
      <vt:lpstr>PowerPoint Presentation</vt:lpstr>
      <vt:lpstr>Result</vt:lpstr>
      <vt:lpstr>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</dc:title>
  <dc:creator>Windows User</dc:creator>
  <cp:lastModifiedBy>Windows User</cp:lastModifiedBy>
  <cp:revision>72</cp:revision>
  <dcterms:created xsi:type="dcterms:W3CDTF">2025-09-11T08:53:22Z</dcterms:created>
  <dcterms:modified xsi:type="dcterms:W3CDTF">2026-02-12T16:34:10Z</dcterms:modified>
</cp:coreProperties>
</file>